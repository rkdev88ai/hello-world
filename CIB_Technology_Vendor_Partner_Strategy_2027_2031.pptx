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139cd70f2d4010" /><Relationship Type="http://schemas.openxmlformats.org/officeDocument/2006/relationships/extended-properties" Target="/docProps/app.xml" Id="R7512ac25eeca41d1" /><Relationship Type="http://schemas.openxmlformats.org/officeDocument/2006/relationships/officeDocument" Target="/ppt/presentation.xml" Id="R86de2848a59a44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15687a28394b82"/>
  </p:sldMasterIdLst>
  <p:notesMasterIdLst>
    <p:notesMasterId xmlns:r="http://schemas.openxmlformats.org/officeDocument/2006/relationships" r:id="Rcecbb162bb1a48e7"/>
  </p:notesMasterIdLst>
  <p:sldIdLst>
    <p:sldId xmlns:r="http://schemas.openxmlformats.org/officeDocument/2006/relationships" id="256" r:id="R8f5e18dac6d54d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2fc298391747e8" /><Relationship Type="http://schemas.openxmlformats.org/officeDocument/2006/relationships/slideMaster" Target="/ppt/slideMasters/slideMaster1.xml" Id="R5c15687a28394b82" /><Relationship Type="http://schemas.openxmlformats.org/officeDocument/2006/relationships/notesMaster" Target="/ppt/notesMasters/notesMaster1.xml" Id="Rcecbb162bb1a48e7" /><Relationship Type="http://schemas.openxmlformats.org/officeDocument/2006/relationships/presProps" Target="/ppt/presProps.xml" Id="R8724c2c050ba4dd5" /><Relationship Type="http://schemas.openxmlformats.org/officeDocument/2006/relationships/tableStyles" Target="/ppt/tableStyles.xml" Id="Rf12793092b3a4573" /><Relationship Type="http://schemas.openxmlformats.org/officeDocument/2006/relationships/slide" Target="/ppt/slides/slide1.xml" Id="R8f5e18dac6d54d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e81d1296404e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e05a61e28f41cf" /><Relationship Type="http://schemas.openxmlformats.org/officeDocument/2006/relationships/notesMaster" Target="/ppt/notesMasters/notesMaster1.xml" Id="R5327015207644c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Executive discussion notes:</a:t>
            </a:r>
          </a:p>
          <a:p xmlns:a="http://schemas.openxmlformats.org/drawingml/2006/main">
            <a:r>
              <a:t>- The roadmap is intentionally capability-led; it does not assume the bank's current application estate or contracts.</a:t>
            </a:r>
          </a:p>
          <a:p xmlns:a="http://schemas.openxmlformats.org/drawingml/2006/main">
            <a:r>
              <a:t>- Treat V as a product/vendor relationship. Elevate to P only where there is client reciprocity and/or committed joint investment, privileged roadmap access, skills/IP transfer and measurable business outcomes.</a:t>
            </a:r>
          </a:p>
          <a:p xmlns:a="http://schemas.openxmlformats.org/drawingml/2006/main">
            <a:r>
              <a:t>- The key portfolio decision is where to consolidate platforms and which 5–7 relationships merit enterprise partner governance.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Murex, MX.3 integrated capital markets solution: https://www.murex.com/en/solutions/mx3-leading-integrated-capital-markets-solution</a:t>
            </a:r>
          </a:p>
          <a:p xmlns:a="http://schemas.openxmlformats.org/drawingml/2006/main">
            <a:r>
              <a:t>- Nasdaq, Calypso capital markets solutions: https://www.nasdaq.com/products/fintech/calypso</a:t>
            </a:r>
          </a:p>
          <a:p xmlns:a="http://schemas.openxmlformats.org/drawingml/2006/main">
            <a:r>
              <a:t>- Finastra, Trade Innovation: https://www.finastra.com/lending/solutions/trade-innovation</a:t>
            </a:r>
          </a:p>
          <a:p xmlns:a="http://schemas.openxmlformats.org/drawingml/2006/main">
            <a:r>
              <a:t>- Volante Technologies, payments platform: https://www.volantetech.com/</a:t>
            </a:r>
          </a:p>
          <a:p xmlns:a="http://schemas.openxmlformats.org/drawingml/2006/main">
            <a:r>
              <a:t>- TCS, BaNCS Global Securities Platform: https://www.tcs.com/what-we-do/products-platforms/tcs-bancs/solution/securities-platform</a:t>
            </a:r>
          </a:p>
          <a:p xmlns:a="http://schemas.openxmlformats.org/drawingml/2006/main">
            <a:r>
              <a:t>- Broadridge, Asset Servicing: https://www.broadridge.com/capability/middle-and-back-office-solutions/asset-servicing/</a:t>
            </a:r>
          </a:p>
          <a:p xmlns:a="http://schemas.openxmlformats.org/drawingml/2006/main">
            <a:r>
              <a:t>- Fenergo, Client Lifecycle Management: https://www.fenergo.com/client-lifecycle-management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3fef2342c47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044aac051c4630" /><Relationship Type="http://schemas.openxmlformats.org/officeDocument/2006/relationships/slideLayout" Target="/ppt/slideLayouts/slideLayout1.xml" Id="R4b806798adb046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806798adb046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64d0fb8e24b0f" /><Relationship Type="http://schemas.openxmlformats.org/officeDocument/2006/relationships/notesSlide" Target="/ppt/notesSlides/notesSlide1.xml" Id="R534a385f43bf4c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95FC32-FAF8-4D7F-9D27-34A35036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Align vendor strategy to the CIB transformation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C350B0-2E48-47DB-8657-6F43DDE2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42950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Illustrative 2027–2031 roadmap | product platforms modernise vertically; Client Coverage and strategic partners connect CIB horizontally</a:t>
            </a: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0C67866-F5E7-454F-BAD3-27412316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66800"/>
            <a:ext cx="11468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er-bg-CIB DOMAIN">
            <a:extLst xmlns:a="http://schemas.openxmlformats.org/drawingml/2006/main">
              <a:ext uri="{FF2B5EF4-FFF2-40B4-BE49-F238E27FC236}">
                <a16:creationId xmlns:a16="http://schemas.microsoft.com/office/drawing/2014/main" id="{18AFDDA4-D64C-4085-B540-5C938F2A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19200"/>
            <a:ext cx="1581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header-CIB DOMAIN">
            <a:extLst xmlns:a="http://schemas.openxmlformats.org/drawingml/2006/main">
              <a:ext uri="{FF2B5EF4-FFF2-40B4-BE49-F238E27FC236}">
                <a16:creationId xmlns:a16="http://schemas.microsoft.com/office/drawing/2014/main" id="{4DFCEB53-3E3B-4F62-8AEC-DCCFC4DD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19200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CIB DOMAIN</a:t>
            </a:r>
          </a:p>
        </p:txBody>
      </p:sp>
      <p:sp>
        <p:nvSpPr>
          <p:cNvPr id="6" name="header-bg-2027  |  STABILISE">
            <a:extLst xmlns:a="http://schemas.openxmlformats.org/drawingml/2006/main">
              <a:ext uri="{FF2B5EF4-FFF2-40B4-BE49-F238E27FC236}">
                <a16:creationId xmlns:a16="http://schemas.microsoft.com/office/drawing/2014/main" id="{0251E34F-23A2-4FCB-991D-4218EA28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2192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header-2027  |  STABILISE">
            <a:extLst xmlns:a="http://schemas.openxmlformats.org/drawingml/2006/main">
              <a:ext uri="{FF2B5EF4-FFF2-40B4-BE49-F238E27FC236}">
                <a16:creationId xmlns:a16="http://schemas.microsoft.com/office/drawing/2014/main" id="{EFF5663E-E7AD-4207-96EA-62612DF5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219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2027  |  STABILISE</a:t>
            </a:r>
          </a:p>
        </p:txBody>
      </p:sp>
      <p:sp>
        <p:nvSpPr>
          <p:cNvPr id="8" name="header-bg-2028–29  |  TRANSFORM">
            <a:extLst xmlns:a="http://schemas.openxmlformats.org/drawingml/2006/main">
              <a:ext uri="{FF2B5EF4-FFF2-40B4-BE49-F238E27FC236}">
                <a16:creationId xmlns:a16="http://schemas.microsoft.com/office/drawing/2014/main" id="{F654D711-51AD-4881-8004-A4F1A500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2192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header-2028–29  |  TRANSFORM">
            <a:extLst xmlns:a="http://schemas.openxmlformats.org/drawingml/2006/main">
              <a:ext uri="{FF2B5EF4-FFF2-40B4-BE49-F238E27FC236}">
                <a16:creationId xmlns:a16="http://schemas.microsoft.com/office/drawing/2014/main" id="{B393BDFF-90EA-45A3-B28A-66440A63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219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2028–29  |  TRANSFORM</a:t>
            </a:r>
          </a:p>
        </p:txBody>
      </p:sp>
      <p:sp>
        <p:nvSpPr>
          <p:cNvPr id="10" name="header-bg-2030–31  |  DIFFERENTIATE">
            <a:extLst xmlns:a="http://schemas.openxmlformats.org/drawingml/2006/main">
              <a:ext uri="{FF2B5EF4-FFF2-40B4-BE49-F238E27FC236}">
                <a16:creationId xmlns:a16="http://schemas.microsoft.com/office/drawing/2014/main" id="{63F710EA-59D1-450E-882B-F6C4555F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21920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header-2030–31  |  DIFFERENTIATE">
            <a:extLst xmlns:a="http://schemas.openxmlformats.org/drawingml/2006/main">
              <a:ext uri="{FF2B5EF4-FFF2-40B4-BE49-F238E27FC236}">
                <a16:creationId xmlns:a16="http://schemas.microsoft.com/office/drawing/2014/main" id="{B5A17B2B-6540-4B03-BD65-88A97E38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219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2030–31  |  DIFFERENTIATE</a:t>
            </a:r>
          </a:p>
        </p:txBody>
      </p:sp>
      <p:sp>
        <p:nvSpPr>
          <p:cNvPr id="12" name="header-bg-VENDORS / PARTNER CANDIDATES*">
            <a:extLst xmlns:a="http://schemas.openxmlformats.org/drawingml/2006/main">
              <a:ext uri="{FF2B5EF4-FFF2-40B4-BE49-F238E27FC236}">
                <a16:creationId xmlns:a16="http://schemas.microsoft.com/office/drawing/2014/main" id="{8F0EE994-FEB1-47BF-B56F-8D07CA5E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19200"/>
            <a:ext cx="3600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header-VENDORS / PARTNER CANDIDATES*">
            <a:extLst xmlns:a="http://schemas.openxmlformats.org/drawingml/2006/main">
              <a:ext uri="{FF2B5EF4-FFF2-40B4-BE49-F238E27FC236}">
                <a16:creationId xmlns:a16="http://schemas.microsoft.com/office/drawing/2014/main" id="{CE822304-0043-4A55-882E-B128B957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1920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VENDORS / PARTNER CANDIDATES*</a:t>
            </a:r>
          </a:p>
        </p:txBody>
      </p:sp>
      <p:sp>
        <p:nvSpPr>
          <p:cNvPr id="14" name="row-0-bg">
            <a:extLst xmlns:a="http://schemas.openxmlformats.org/drawingml/2006/main">
              <a:ext uri="{FF2B5EF4-FFF2-40B4-BE49-F238E27FC236}">
                <a16:creationId xmlns:a16="http://schemas.microsoft.com/office/drawing/2014/main" id="{890670ED-679B-44A2-9738-9A126E86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38300"/>
            <a:ext cx="1146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w-0-domain-bg">
            <a:extLst xmlns:a="http://schemas.openxmlformats.org/drawingml/2006/main">
              <a:ext uri="{FF2B5EF4-FFF2-40B4-BE49-F238E27FC236}">
                <a16:creationId xmlns:a16="http://schemas.microsoft.com/office/drawing/2014/main" id="{B691681C-84C1-4383-93F1-01BA9B1A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3830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w-0-vendor-bg">
            <a:extLst xmlns:a="http://schemas.openxmlformats.org/drawingml/2006/main">
              <a:ext uri="{FF2B5EF4-FFF2-40B4-BE49-F238E27FC236}">
                <a16:creationId xmlns:a16="http://schemas.microsoft.com/office/drawing/2014/main" id="{02D76872-4A0F-4090-8D1C-3FC9EA92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w-0-accent">
            <a:extLst xmlns:a="http://schemas.openxmlformats.org/drawingml/2006/main">
              <a:ext uri="{FF2B5EF4-FFF2-40B4-BE49-F238E27FC236}">
                <a16:creationId xmlns:a16="http://schemas.microsoft.com/office/drawing/2014/main" id="{3AF586FF-DC05-45E3-B0AA-2168480D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383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ow-0-tag">
            <a:extLst xmlns:a="http://schemas.openxmlformats.org/drawingml/2006/main">
              <a:ext uri="{FF2B5EF4-FFF2-40B4-BE49-F238E27FC236}">
                <a16:creationId xmlns:a16="http://schemas.microsoft.com/office/drawing/2014/main" id="{C3860220-A930-48F5-902A-A2EB424C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7049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9" name="row-0-domain">
            <a:extLst xmlns:a="http://schemas.openxmlformats.org/drawingml/2006/main">
              <a:ext uri="{FF2B5EF4-FFF2-40B4-BE49-F238E27FC236}">
                <a16:creationId xmlns:a16="http://schemas.microsoft.com/office/drawing/2014/main" id="{6441C6B4-3F26-4B3A-960B-316FF1F9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84785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Financial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Markets</a:t>
            </a:r>
          </a:p>
        </p:txBody>
      </p:sp>
      <p:sp>
        <p:nvSpPr>
          <p:cNvPr id="20" name="row-0-p1">
            <a:extLst xmlns:a="http://schemas.openxmlformats.org/drawingml/2006/main">
              <a:ext uri="{FF2B5EF4-FFF2-40B4-BE49-F238E27FC236}">
                <a16:creationId xmlns:a16="http://schemas.microsoft.com/office/drawing/2014/main" id="{7BE8EB4F-32A0-4305-B3EC-CF5C5925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70497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Stabilise trading &amp; risk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Govern front-to-back data</a:t>
            </a:r>
          </a:p>
        </p:txBody>
      </p:sp>
      <p:sp>
        <p:nvSpPr>
          <p:cNvPr id="21" name="row-0-p2">
            <a:extLst xmlns:a="http://schemas.openxmlformats.org/drawingml/2006/main">
              <a:ext uri="{FF2B5EF4-FFF2-40B4-BE49-F238E27FC236}">
                <a16:creationId xmlns:a16="http://schemas.microsoft.com/office/drawing/2014/main" id="{1C12AABC-55FA-49D0-84C4-72428116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0497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Converge core platforms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Scale intraday risk &amp; e-channels</a:t>
            </a:r>
          </a:p>
        </p:txBody>
      </p:sp>
      <p:sp>
        <p:nvSpPr>
          <p:cNvPr id="22" name="row-0-p3">
            <a:extLst xmlns:a="http://schemas.openxmlformats.org/drawingml/2006/main">
              <a:ext uri="{FF2B5EF4-FFF2-40B4-BE49-F238E27FC236}">
                <a16:creationId xmlns:a16="http://schemas.microsoft.com/office/drawing/2014/main" id="{DB2CE435-5CF3-48F5-B354-BF96AB13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0497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973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AI-assisted trading &amp; controls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Optimise capital in real time</a:t>
            </a:r>
          </a:p>
        </p:txBody>
      </p:sp>
      <p:sp>
        <p:nvSpPr>
          <p:cNvPr id="23" name="row-0-vendors">
            <a:extLst xmlns:a="http://schemas.openxmlformats.org/drawingml/2006/main">
              <a:ext uri="{FF2B5EF4-FFF2-40B4-BE49-F238E27FC236}">
                <a16:creationId xmlns:a16="http://schemas.microsoft.com/office/drawing/2014/main" id="{0BD54CA8-5F9F-4C96-8580-DD1A2308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704975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  </a:t>
            </a:r>
            <a:r>
              <a:rPr sz="1163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Murex · Nasdaq Calypso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P*</a:t>
            </a:r>
            <a:r>
              <a:rPr sz="1163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Microsoft · AWS</a:t>
            </a:r>
          </a:p>
        </p:txBody>
      </p:sp>
      <p:sp>
        <p:nvSpPr>
          <p:cNvPr id="24" name="row-0-bottom">
            <a:extLst xmlns:a="http://schemas.openxmlformats.org/drawingml/2006/main">
              <a:ext uri="{FF2B5EF4-FFF2-40B4-BE49-F238E27FC236}">
                <a16:creationId xmlns:a16="http://schemas.microsoft.com/office/drawing/2014/main" id="{6E1EB65F-FC17-410D-9AD8-0DB0E231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193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5" name="row-1-bg">
            <a:extLst xmlns:a="http://schemas.openxmlformats.org/drawingml/2006/main">
              <a:ext uri="{FF2B5EF4-FFF2-40B4-BE49-F238E27FC236}">
                <a16:creationId xmlns:a16="http://schemas.microsoft.com/office/drawing/2014/main" id="{5E2FCD1E-16B0-4A8E-8DC9-C1CA3FC9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19350"/>
            <a:ext cx="1146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ow-1-domain-bg">
            <a:extLst xmlns:a="http://schemas.openxmlformats.org/drawingml/2006/main">
              <a:ext uri="{FF2B5EF4-FFF2-40B4-BE49-F238E27FC236}">
                <a16:creationId xmlns:a16="http://schemas.microsoft.com/office/drawing/2014/main" id="{AD70FC3D-B47E-4D1E-9B8D-2B5346A4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193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ow-1-vendor-bg">
            <a:extLst xmlns:a="http://schemas.openxmlformats.org/drawingml/2006/main">
              <a:ext uri="{FF2B5EF4-FFF2-40B4-BE49-F238E27FC236}">
                <a16:creationId xmlns:a16="http://schemas.microsoft.com/office/drawing/2014/main" id="{2D5F5EB4-24C6-41FB-B4F3-F40B9611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193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ow-1-accent">
            <a:extLst xmlns:a="http://schemas.openxmlformats.org/drawingml/2006/main">
              <a:ext uri="{FF2B5EF4-FFF2-40B4-BE49-F238E27FC236}">
                <a16:creationId xmlns:a16="http://schemas.microsoft.com/office/drawing/2014/main" id="{D6C66F18-A111-439C-B2AB-8E89A7F3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193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ow-1-tag">
            <a:extLst xmlns:a="http://schemas.openxmlformats.org/drawingml/2006/main">
              <a:ext uri="{FF2B5EF4-FFF2-40B4-BE49-F238E27FC236}">
                <a16:creationId xmlns:a16="http://schemas.microsoft.com/office/drawing/2014/main" id="{E9F5BFAF-D627-4479-97DF-3F8CE8CB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48602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30" name="row-1-domain">
            <a:extLst xmlns:a="http://schemas.openxmlformats.org/drawingml/2006/main">
              <a:ext uri="{FF2B5EF4-FFF2-40B4-BE49-F238E27FC236}">
                <a16:creationId xmlns:a16="http://schemas.microsoft.com/office/drawing/2014/main" id="{9DA2123C-9B02-4403-ADFF-5A6A710A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2890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Trade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Finance</a:t>
            </a:r>
          </a:p>
        </p:txBody>
      </p:sp>
      <p:sp>
        <p:nvSpPr>
          <p:cNvPr id="31" name="row-1-p1">
            <a:extLst xmlns:a="http://schemas.openxmlformats.org/drawingml/2006/main">
              <a:ext uri="{FF2B5EF4-FFF2-40B4-BE49-F238E27FC236}">
                <a16:creationId xmlns:a16="http://schemas.microsoft.com/office/drawing/2014/main" id="{8F7366DC-2CB6-4F54-A904-49A4F4C7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8602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903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Digitise documents &amp; controls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Standardise product/process data</a:t>
            </a:r>
          </a:p>
        </p:txBody>
      </p:sp>
      <p:sp>
        <p:nvSpPr>
          <p:cNvPr id="32" name="row-1-p2">
            <a:extLst xmlns:a="http://schemas.openxmlformats.org/drawingml/2006/main">
              <a:ext uri="{FF2B5EF4-FFF2-40B4-BE49-F238E27FC236}">
                <a16:creationId xmlns:a16="http://schemas.microsoft.com/office/drawing/2014/main" id="{4EBC1FE9-D07C-4299-A8C8-6A0ED00F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8602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Converge trade engine &amp; channel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Open ecosystem APIs</a:t>
            </a:r>
          </a:p>
        </p:txBody>
      </p:sp>
      <p:sp>
        <p:nvSpPr>
          <p:cNvPr id="33" name="row-1-p3">
            <a:extLst xmlns:a="http://schemas.openxmlformats.org/drawingml/2006/main">
              <a:ext uri="{FF2B5EF4-FFF2-40B4-BE49-F238E27FC236}">
                <a16:creationId xmlns:a16="http://schemas.microsoft.com/office/drawing/2014/main" id="{B531DF97-F9D7-4A8D-B1E5-597045C4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8602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AI-led exception handling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Embedded trade &amp; supply chain</a:t>
            </a:r>
          </a:p>
        </p:txBody>
      </p:sp>
      <p:sp>
        <p:nvSpPr>
          <p:cNvPr id="34" name="row-1-vendors">
            <a:extLst xmlns:a="http://schemas.openxmlformats.org/drawingml/2006/main">
              <a:ext uri="{FF2B5EF4-FFF2-40B4-BE49-F238E27FC236}">
                <a16:creationId xmlns:a16="http://schemas.microsoft.com/office/drawing/2014/main" id="{6A797FC3-5118-49C1-BD4D-1D16F694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86025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  </a:t>
            </a:r>
            <a:r>
              <a:rPr sz="1163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Finastra · Surecomp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P*</a:t>
            </a:r>
            <a:r>
              <a:rPr sz="1163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Microsoft · Google Cloud</a:t>
            </a:r>
          </a:p>
        </p:txBody>
      </p:sp>
      <p:sp>
        <p:nvSpPr>
          <p:cNvPr id="35" name="row-1-bottom">
            <a:extLst xmlns:a="http://schemas.openxmlformats.org/drawingml/2006/main">
              <a:ext uri="{FF2B5EF4-FFF2-40B4-BE49-F238E27FC236}">
                <a16:creationId xmlns:a16="http://schemas.microsoft.com/office/drawing/2014/main" id="{A2BE5130-53D3-4B27-B5CF-3D0E933B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0040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36" name="row-2-bg">
            <a:extLst xmlns:a="http://schemas.openxmlformats.org/drawingml/2006/main">
              <a:ext uri="{FF2B5EF4-FFF2-40B4-BE49-F238E27FC236}">
                <a16:creationId xmlns:a16="http://schemas.microsoft.com/office/drawing/2014/main" id="{55D6AB1C-8577-4CCC-A076-3937A3E3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00400"/>
            <a:ext cx="1146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row-2-domain-bg">
            <a:extLst xmlns:a="http://schemas.openxmlformats.org/drawingml/2006/main">
              <a:ext uri="{FF2B5EF4-FFF2-40B4-BE49-F238E27FC236}">
                <a16:creationId xmlns:a16="http://schemas.microsoft.com/office/drawing/2014/main" id="{C3CF790C-2832-4462-981A-F8456E88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0040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ow-2-vendor-bg">
            <a:extLst xmlns:a="http://schemas.openxmlformats.org/drawingml/2006/main">
              <a:ext uri="{FF2B5EF4-FFF2-40B4-BE49-F238E27FC236}">
                <a16:creationId xmlns:a16="http://schemas.microsoft.com/office/drawing/2014/main" id="{4FFD5807-02F3-47C7-BDD2-93680D5D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ow-2-accent">
            <a:extLst xmlns:a="http://schemas.openxmlformats.org/drawingml/2006/main">
              <a:ext uri="{FF2B5EF4-FFF2-40B4-BE49-F238E27FC236}">
                <a16:creationId xmlns:a16="http://schemas.microsoft.com/office/drawing/2014/main" id="{07CBF71E-1268-4137-9F2B-8B1D93EC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004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ow-2-tag">
            <a:extLst xmlns:a="http://schemas.openxmlformats.org/drawingml/2006/main">
              <a:ext uri="{FF2B5EF4-FFF2-40B4-BE49-F238E27FC236}">
                <a16:creationId xmlns:a16="http://schemas.microsoft.com/office/drawing/2014/main" id="{954B8191-703C-4524-85A7-F3F57CA6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2670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41" name="row-2-domain">
            <a:extLst xmlns:a="http://schemas.openxmlformats.org/drawingml/2006/main">
              <a:ext uri="{FF2B5EF4-FFF2-40B4-BE49-F238E27FC236}">
                <a16:creationId xmlns:a16="http://schemas.microsoft.com/office/drawing/2014/main" id="{5F0DC60C-3E37-4416-A3D5-2DE40997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40995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Cash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Management</a:t>
            </a:r>
          </a:p>
        </p:txBody>
      </p:sp>
      <p:sp>
        <p:nvSpPr>
          <p:cNvPr id="42" name="row-2-p1">
            <a:extLst xmlns:a="http://schemas.openxmlformats.org/drawingml/2006/main">
              <a:ext uri="{FF2B5EF4-FFF2-40B4-BE49-F238E27FC236}">
                <a16:creationId xmlns:a16="http://schemas.microsoft.com/office/drawing/2014/main" id="{8217E8CF-E290-43D0-9C90-C4702103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6707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944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Complete ISO 20022 / instant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Establish liquidity data spine</a:t>
            </a:r>
          </a:p>
        </p:txBody>
      </p:sp>
      <p:sp>
        <p:nvSpPr>
          <p:cNvPr id="43" name="row-2-p2">
            <a:extLst xmlns:a="http://schemas.openxmlformats.org/drawingml/2006/main">
              <a:ext uri="{FF2B5EF4-FFF2-40B4-BE49-F238E27FC236}">
                <a16:creationId xmlns:a16="http://schemas.microsoft.com/office/drawing/2014/main" id="{1468A424-FDB9-4307-82E7-3A557571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6707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Consolidate payment hubs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Expand API treasury services</a:t>
            </a:r>
          </a:p>
        </p:txBody>
      </p:sp>
      <p:sp>
        <p:nvSpPr>
          <p:cNvPr id="44" name="row-2-p3">
            <a:extLst xmlns:a="http://schemas.openxmlformats.org/drawingml/2006/main">
              <a:ext uri="{FF2B5EF4-FFF2-40B4-BE49-F238E27FC236}">
                <a16:creationId xmlns:a16="http://schemas.microsoft.com/office/drawing/2014/main" id="{DE60F0B2-9EC3-4229-BB27-3D3A5882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6707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Predictive liquidity &amp; fraud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Embedded, always-on payments</a:t>
            </a:r>
          </a:p>
        </p:txBody>
      </p:sp>
      <p:sp>
        <p:nvSpPr>
          <p:cNvPr id="45" name="row-2-vendors">
            <a:extLst xmlns:a="http://schemas.openxmlformats.org/drawingml/2006/main">
              <a:ext uri="{FF2B5EF4-FFF2-40B4-BE49-F238E27FC236}">
                <a16:creationId xmlns:a16="http://schemas.microsoft.com/office/drawing/2014/main" id="{B7F4A7C8-29C4-4A9E-8A77-62346D96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267075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  </a:t>
            </a:r>
            <a:r>
              <a:rPr sz="1163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Volante · Temenos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P*</a:t>
            </a:r>
            <a:r>
              <a:rPr sz="1163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AWS · Microsoft</a:t>
            </a:r>
          </a:p>
        </p:txBody>
      </p:sp>
      <p:sp>
        <p:nvSpPr>
          <p:cNvPr id="46" name="row-2-bottom">
            <a:extLst xmlns:a="http://schemas.openxmlformats.org/drawingml/2006/main">
              <a:ext uri="{FF2B5EF4-FFF2-40B4-BE49-F238E27FC236}">
                <a16:creationId xmlns:a16="http://schemas.microsoft.com/office/drawing/2014/main" id="{B7718E0A-580D-406B-B364-D3BEB17A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814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47" name="row-3-bg">
            <a:extLst xmlns:a="http://schemas.openxmlformats.org/drawingml/2006/main">
              <a:ext uri="{FF2B5EF4-FFF2-40B4-BE49-F238E27FC236}">
                <a16:creationId xmlns:a16="http://schemas.microsoft.com/office/drawing/2014/main" id="{54D55790-7B2E-4DBB-92DC-DF7AA79D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81450"/>
            <a:ext cx="1146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ow-3-domain-bg">
            <a:extLst xmlns:a="http://schemas.openxmlformats.org/drawingml/2006/main">
              <a:ext uri="{FF2B5EF4-FFF2-40B4-BE49-F238E27FC236}">
                <a16:creationId xmlns:a16="http://schemas.microsoft.com/office/drawing/2014/main" id="{2477B60F-7A80-4B9A-B315-7AB12D4F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814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row-3-vendor-bg">
            <a:extLst xmlns:a="http://schemas.openxmlformats.org/drawingml/2006/main">
              <a:ext uri="{FF2B5EF4-FFF2-40B4-BE49-F238E27FC236}">
                <a16:creationId xmlns:a16="http://schemas.microsoft.com/office/drawing/2014/main" id="{618A90C7-B61F-4BA3-A759-481A2F67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row-3-accent">
            <a:extLst xmlns:a="http://schemas.openxmlformats.org/drawingml/2006/main">
              <a:ext uri="{FF2B5EF4-FFF2-40B4-BE49-F238E27FC236}">
                <a16:creationId xmlns:a16="http://schemas.microsoft.com/office/drawing/2014/main" id="{37DAFE09-BC44-451C-8233-FF455296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81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row-3-tag">
            <a:extLst xmlns:a="http://schemas.openxmlformats.org/drawingml/2006/main">
              <a:ext uri="{FF2B5EF4-FFF2-40B4-BE49-F238E27FC236}">
                <a16:creationId xmlns:a16="http://schemas.microsoft.com/office/drawing/2014/main" id="{C1D84922-0C47-44D4-B966-B92936D4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04812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52" name="row-3-domain">
            <a:extLst xmlns:a="http://schemas.openxmlformats.org/drawingml/2006/main">
              <a:ext uri="{FF2B5EF4-FFF2-40B4-BE49-F238E27FC236}">
                <a16:creationId xmlns:a16="http://schemas.microsoft.com/office/drawing/2014/main" id="{734353E3-149A-4476-B8DA-7C8C907B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19100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Securities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53" name="row-3-p1">
            <a:extLst xmlns:a="http://schemas.openxmlformats.org/drawingml/2006/main">
              <a:ext uri="{FF2B5EF4-FFF2-40B4-BE49-F238E27FC236}">
                <a16:creationId xmlns:a16="http://schemas.microsoft.com/office/drawing/2014/main" id="{95835F23-D6D7-4BC6-A5A6-3800D953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4812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973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Modernise custody data/control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Automate corporate actions</a:t>
            </a:r>
          </a:p>
        </p:txBody>
      </p:sp>
      <p:sp>
        <p:nvSpPr>
          <p:cNvPr id="54" name="row-3-p2">
            <a:extLst xmlns:a="http://schemas.openxmlformats.org/drawingml/2006/main">
              <a:ext uri="{FF2B5EF4-FFF2-40B4-BE49-F238E27FC236}">
                <a16:creationId xmlns:a16="http://schemas.microsoft.com/office/drawing/2014/main" id="{15A66403-A52F-4409-9C54-1B1C4445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4812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Modularise asset servicing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Deliver real-time client reporting</a:t>
            </a:r>
          </a:p>
        </p:txBody>
      </p:sp>
      <p:sp>
        <p:nvSpPr>
          <p:cNvPr id="55" name="row-3-p3">
            <a:extLst xmlns:a="http://schemas.openxmlformats.org/drawingml/2006/main">
              <a:ext uri="{FF2B5EF4-FFF2-40B4-BE49-F238E27FC236}">
                <a16:creationId xmlns:a16="http://schemas.microsoft.com/office/drawing/2014/main" id="{EF03C160-7D53-4001-92EE-3060A724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4812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923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Tokenised custody readiness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AI servicing &amp; collateral insights</a:t>
            </a:r>
          </a:p>
        </p:txBody>
      </p:sp>
      <p:sp>
        <p:nvSpPr>
          <p:cNvPr id="56" name="row-3-vendors">
            <a:extLst xmlns:a="http://schemas.openxmlformats.org/drawingml/2006/main">
              <a:ext uri="{FF2B5EF4-FFF2-40B4-BE49-F238E27FC236}">
                <a16:creationId xmlns:a16="http://schemas.microsoft.com/office/drawing/2014/main" id="{0DD029DF-5A79-4F2F-9A7C-A12FD8FC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048125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  </a:t>
            </a:r>
            <a:r>
              <a:rPr sz="1163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TCS BaNCS · Broadridge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P*</a:t>
            </a:r>
            <a:r>
              <a:rPr sz="1163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AWS · Google Cloud</a:t>
            </a:r>
          </a:p>
        </p:txBody>
      </p:sp>
      <p:sp>
        <p:nvSpPr>
          <p:cNvPr id="57" name="row-3-bottom">
            <a:extLst xmlns:a="http://schemas.openxmlformats.org/drawingml/2006/main">
              <a:ext uri="{FF2B5EF4-FFF2-40B4-BE49-F238E27FC236}">
                <a16:creationId xmlns:a16="http://schemas.microsoft.com/office/drawing/2014/main" id="{09903C36-3675-442C-93A2-1008E8D3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6250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58" name="row-4-bg">
            <a:extLst xmlns:a="http://schemas.openxmlformats.org/drawingml/2006/main">
              <a:ext uri="{FF2B5EF4-FFF2-40B4-BE49-F238E27FC236}">
                <a16:creationId xmlns:a16="http://schemas.microsoft.com/office/drawing/2014/main" id="{D1AFC45E-5EC7-4C2F-BE39-D7B0A596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62500"/>
            <a:ext cx="1146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row-4-domain-bg">
            <a:extLst xmlns:a="http://schemas.openxmlformats.org/drawingml/2006/main">
              <a:ext uri="{FF2B5EF4-FFF2-40B4-BE49-F238E27FC236}">
                <a16:creationId xmlns:a16="http://schemas.microsoft.com/office/drawing/2014/main" id="{250C19FB-13FC-47F0-BCA1-1F9A282F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6250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row-4-vendor-bg">
            <a:extLst xmlns:a="http://schemas.openxmlformats.org/drawingml/2006/main">
              <a:ext uri="{FF2B5EF4-FFF2-40B4-BE49-F238E27FC236}">
                <a16:creationId xmlns:a16="http://schemas.microsoft.com/office/drawing/2014/main" id="{825D633D-4090-48ED-9885-C44B5441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600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row-4-accent">
            <a:extLst xmlns:a="http://schemas.openxmlformats.org/drawingml/2006/main">
              <a:ext uri="{FF2B5EF4-FFF2-40B4-BE49-F238E27FC236}">
                <a16:creationId xmlns:a16="http://schemas.microsoft.com/office/drawing/2014/main" id="{A2B927BF-28A8-4115-B710-3C168BF3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762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row-4-tag">
            <a:extLst xmlns:a="http://schemas.openxmlformats.org/drawingml/2006/main">
              <a:ext uri="{FF2B5EF4-FFF2-40B4-BE49-F238E27FC236}">
                <a16:creationId xmlns:a16="http://schemas.microsoft.com/office/drawing/2014/main" id="{99D78B0A-A79E-4C81-85AC-AB816E88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29175"/>
            <a:ext cx="1285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HORIZONTAL</a:t>
            </a:r>
          </a:p>
        </p:txBody>
      </p:sp>
      <p:sp>
        <p:nvSpPr>
          <p:cNvPr id="63" name="row-4-domain">
            <a:extLst xmlns:a="http://schemas.openxmlformats.org/drawingml/2006/main">
              <a:ext uri="{FF2B5EF4-FFF2-40B4-BE49-F238E27FC236}">
                <a16:creationId xmlns:a16="http://schemas.microsoft.com/office/drawing/2014/main" id="{13356DD7-42F4-4D39-BE66-5CFF6893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97205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Client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64" name="row-4-p1">
            <a:extLst xmlns:a="http://schemas.openxmlformats.org/drawingml/2006/main">
              <a:ext uri="{FF2B5EF4-FFF2-40B4-BE49-F238E27FC236}">
                <a16:creationId xmlns:a16="http://schemas.microsoft.com/office/drawing/2014/main" id="{DFD54049-8243-48EC-A2B6-C930956F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2917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92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Establish canonical client model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Policy-led onboarding &amp; KYC</a:t>
            </a:r>
          </a:p>
        </p:txBody>
      </p:sp>
      <p:sp>
        <p:nvSpPr>
          <p:cNvPr id="65" name="row-4-p2">
            <a:extLst xmlns:a="http://schemas.openxmlformats.org/drawingml/2006/main">
              <a:ext uri="{FF2B5EF4-FFF2-40B4-BE49-F238E27FC236}">
                <a16:creationId xmlns:a16="http://schemas.microsoft.com/office/drawing/2014/main" id="{1CF2EAA7-E488-479F-97E0-24E24326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2917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Unify CRM and client journeys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Scale global orchestration</a:t>
            </a:r>
          </a:p>
        </p:txBody>
      </p:sp>
      <p:sp>
        <p:nvSpPr>
          <p:cNvPr id="66" name="row-4-p3">
            <a:extLst xmlns:a="http://schemas.openxmlformats.org/drawingml/2006/main">
              <a:ext uri="{FF2B5EF4-FFF2-40B4-BE49-F238E27FC236}">
                <a16:creationId xmlns:a16="http://schemas.microsoft.com/office/drawing/2014/main" id="{B38AED74-55A5-492A-8985-A7066994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29175"/>
            <a:ext cx="2019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19050" rIns="76200" bIns="19050" anchor="ctr">
            <a:normAutofit fontScale="87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Agent-assisted RM / onboarding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77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77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• Proactive insights &amp; self-service</a:t>
            </a:r>
          </a:p>
        </p:txBody>
      </p:sp>
      <p:sp>
        <p:nvSpPr>
          <p:cNvPr id="67" name="row-4-vendors">
            <a:extLst xmlns:a="http://schemas.openxmlformats.org/drawingml/2006/main">
              <a:ext uri="{FF2B5EF4-FFF2-40B4-BE49-F238E27FC236}">
                <a16:creationId xmlns:a16="http://schemas.microsoft.com/office/drawing/2014/main" id="{E46C8A38-046F-4D29-A0A5-50A12799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829175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66675" tIns="19050" rIns="666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  </a:t>
            </a:r>
            <a:r>
              <a:rPr sz="1163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Fenergo · Salesforce · Dynamics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63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P*</a:t>
            </a:r>
            <a:r>
              <a:rPr sz="1163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 Microsoft · ServiceNow</a:t>
            </a:r>
          </a:p>
        </p:txBody>
      </p:sp>
      <p:sp>
        <p:nvSpPr>
          <p:cNvPr id="68" name="row-4-bottom">
            <a:extLst xmlns:a="http://schemas.openxmlformats.org/drawingml/2006/main">
              <a:ext uri="{FF2B5EF4-FFF2-40B4-BE49-F238E27FC236}">
                <a16:creationId xmlns:a16="http://schemas.microsoft.com/office/drawing/2014/main" id="{544EF883-C98A-4CE8-ACE4-5860FDA7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5435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69" name="grid-v-0">
            <a:extLst xmlns:a="http://schemas.openxmlformats.org/drawingml/2006/main">
              <a:ext uri="{FF2B5EF4-FFF2-40B4-BE49-F238E27FC236}">
                <a16:creationId xmlns:a16="http://schemas.microsoft.com/office/drawing/2014/main" id="{11E6724F-8442-4A45-87AE-D728929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1920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0" name="grid-v-1">
            <a:extLst xmlns:a="http://schemas.openxmlformats.org/drawingml/2006/main">
              <a:ext uri="{FF2B5EF4-FFF2-40B4-BE49-F238E27FC236}">
                <a16:creationId xmlns:a16="http://schemas.microsoft.com/office/drawing/2014/main" id="{1535D14A-7246-424B-BF24-77E700F0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21920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1" name="grid-v-2">
            <a:extLst xmlns:a="http://schemas.openxmlformats.org/drawingml/2006/main">
              <a:ext uri="{FF2B5EF4-FFF2-40B4-BE49-F238E27FC236}">
                <a16:creationId xmlns:a16="http://schemas.microsoft.com/office/drawing/2014/main" id="{8F6A0164-6734-400C-BF05-6C231BFC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21920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2" name="grid-v-3">
            <a:extLst xmlns:a="http://schemas.openxmlformats.org/drawingml/2006/main">
              <a:ext uri="{FF2B5EF4-FFF2-40B4-BE49-F238E27FC236}">
                <a16:creationId xmlns:a16="http://schemas.microsoft.com/office/drawing/2014/main" id="{A010DFF0-217A-4BF1-92D7-DCFBA95C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21920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3" name="grid-v-4">
            <a:extLst xmlns:a="http://schemas.openxmlformats.org/drawingml/2006/main">
              <a:ext uri="{FF2B5EF4-FFF2-40B4-BE49-F238E27FC236}">
                <a16:creationId xmlns:a16="http://schemas.microsoft.com/office/drawing/2014/main" id="{E5A78CE3-47F6-4E46-A849-EA653F2F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1920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4" name="grid-v-5">
            <a:extLst xmlns:a="http://schemas.openxmlformats.org/drawingml/2006/main">
              <a:ext uri="{FF2B5EF4-FFF2-40B4-BE49-F238E27FC236}">
                <a16:creationId xmlns:a16="http://schemas.microsoft.com/office/drawing/2014/main" id="{5FB978F8-A546-4CF6-968D-411A3EDE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219200"/>
            <a:ext cx="0" cy="432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5" name="enabler-band">
            <a:extLst xmlns:a="http://schemas.openxmlformats.org/drawingml/2006/main">
              <a:ext uri="{FF2B5EF4-FFF2-40B4-BE49-F238E27FC236}">
                <a16:creationId xmlns:a16="http://schemas.microsoft.com/office/drawing/2014/main" id="{2F456A78-2E7E-4199-96B0-ABCBCE86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73405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enabler-label">
            <a:extLst xmlns:a="http://schemas.openxmlformats.org/drawingml/2006/main">
              <a:ext uri="{FF2B5EF4-FFF2-40B4-BE49-F238E27FC236}">
                <a16:creationId xmlns:a16="http://schemas.microsoft.com/office/drawing/2014/main" id="{E276E7AC-586B-4282-A640-97F66162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819775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CIB-WIDE PARTNER AGENDA</a:t>
            </a:r>
          </a:p>
        </p:txBody>
      </p:sp>
      <p:sp>
        <p:nvSpPr>
          <p:cNvPr id="77" name="enabler-copy">
            <a:extLst xmlns:a="http://schemas.openxmlformats.org/drawingml/2006/main">
              <a:ext uri="{FF2B5EF4-FFF2-40B4-BE49-F238E27FC236}">
                <a16:creationId xmlns:a16="http://schemas.microsoft.com/office/drawing/2014/main" id="{98ED9BD1-FAA7-49E7-A4F6-C848084B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6010275"/>
            <a:ext cx="769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7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1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Cloud &amp; resilience  Microsoft / AWS / Google Cloud    •    Data &amp; AI  Databricks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1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Integration  Confluent    •    Workflow  ServiceNow</a:t>
            </a:r>
          </a:p>
        </p:txBody>
      </p:sp>
      <p:sp>
        <p:nvSpPr>
          <p:cNvPr id="78" name="decision-band">
            <a:extLst xmlns:a="http://schemas.openxmlformats.org/drawingml/2006/main">
              <a:ext uri="{FF2B5EF4-FFF2-40B4-BE49-F238E27FC236}">
                <a16:creationId xmlns:a16="http://schemas.microsoft.com/office/drawing/2014/main" id="{324D205C-5DB7-490B-863B-2413C2E2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34050"/>
            <a:ext cx="333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E9D13892-BBBF-4B62-9007-8B074B06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819775"/>
            <a:ext cx="3028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MANAGEMENT CHOICE</a:t>
            </a:r>
          </a:p>
        </p:txBody>
      </p:sp>
      <p:sp>
        <p:nvSpPr>
          <p:cNvPr id="80" name="decision-copy">
            <a:extLst xmlns:a="http://schemas.openxmlformats.org/drawingml/2006/main">
              <a:ext uri="{FF2B5EF4-FFF2-40B4-BE49-F238E27FC236}">
                <a16:creationId xmlns:a16="http://schemas.microsoft.com/office/drawing/2014/main" id="{38C08456-E2DC-4C80-9809-B53D0452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98170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5–7 strategic relationships. Secure co-investment, roadmap access, skills/IP transfer and measurable outcomes.</a:t>
            </a:r>
          </a:p>
        </p:txBody>
      </p:sp>
      <p:sp>
        <p:nvSpPr>
          <p:cNvPr id="81" name="footnote">
            <a:extLst xmlns:a="http://schemas.openxmlformats.org/drawingml/2006/main">
              <a:ext uri="{FF2B5EF4-FFF2-40B4-BE49-F238E27FC236}">
                <a16:creationId xmlns:a16="http://schemas.microsoft.com/office/drawing/2014/main" id="{A8FF2253-010F-4D3E-ABB9-DE6F6A2C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* P = potential strategic partner. Confirm against the bank’s client relationship and/or joint-investment criteria; vendor names are illustrative, not a sourcing recommendation.</a:t>
            </a:r>
          </a:p>
        </p:txBody>
      </p:sp>
      <p:sp>
        <p:nvSpPr>
          <p:cNvPr id="8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67AF2D-DD55-42F6-8593-0A250CCD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960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225958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2026-08-28T09:24:45.9140000Z</dcterms:created>
  <dcterms:modified xsi:type="dcterms:W3CDTF">2026-08-28T09:24:45.9140000Z</dcterms:modified>
</coreProperties>
</file>