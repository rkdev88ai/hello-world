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8869"/>
            <a:ext cx="259080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87180"/>
            <a:ext cx="1104900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87205"/>
            <a:ext cx="3124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Lato"/>
              </a:rPr>
              <a:t>Prepared for: EXCO &amp; Senior Technology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8725" y="4787205"/>
            <a:ext cx="2771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Lato"/>
              </a:rPr>
              <a:t>Corporate &amp; Investment Banking (CIB)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375594"/>
            <a:ext cx="950118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oppins"/>
              </a:rPr>
              <a:t>CIB Technology Vendor &amp; Partner Transformation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87080"/>
            <a:ext cx="7886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3–5 Year Horizon Strategy Overlay Across Core Product Verticals and Client Coverage Horizons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5353050" cy="3886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314450"/>
            <a:ext cx="5353050" cy="388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1619250"/>
            <a:ext cx="1971675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1952625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Technology Vendors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38125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Transactional &amp; Operational Delivery: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Software and infrastructure providers delivering standardized functionality under strict SLA and license frameworks.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1619250"/>
            <a:ext cx="2138362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43675" y="1952625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Technology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238125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Co-Investment &amp; Dual Client Value: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Strategic vendors who are also primary Corporate Banking clients and/or joint R&amp;D co-investors in CIB technology assets.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2099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20992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Strategic Focus: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Cost optimization, operational resilience, and compliance.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7623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76237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Commercial Model: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SaaS, enterprise license agreements (ELA), or utility pricing.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3148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314825"/>
            <a:ext cx="46101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Key Drivers: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Scalability, low switching costs, vendor viability.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8450" y="32099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320992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Strategic Focus: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Market co-innovation, proprietary product development, joint revenue share.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37623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376237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Dual Commercial Value: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Tech procurement spend balanced against banking treasury &amp; cash relationship.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450" y="43148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31482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Key Drivers: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Mutual executive alignment, long-term roadmap integration.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Strategic Framework: Vendor vs. Partner Overlay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3850"/>
            <a:ext cx="5353050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314450"/>
            <a:ext cx="53530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14450"/>
            <a:ext cx="56207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3–5 Year Transformation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743075"/>
            <a:ext cx="535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Modernizing core cross-asset trading, risk management, and market connectivity platforms to cloud-native microservices.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23431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343150"/>
            <a:ext cx="51625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Near-Term (Yr 1-2):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Legacy platform consolidation (Murex/Calypso migration) &amp; cloud risk analytics engines.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29146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14650"/>
            <a:ext cx="51625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Medium-Term (Yr 3):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Algorithmic execution optimization &amp; automated front-to-back straight-through processing (STP).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4861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86150"/>
            <a:ext cx="51625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Long-Term (Yr 4-5):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Tokenized asset trading connectivity &amp; institutional DeFi gateway readiness.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248150"/>
            <a:ext cx="5086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1E40AF"/>
                </a:solidFill>
                <a:latin typeface="Lato"/>
              </a:rPr>
              <a:t>Key Ecosystem Players: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448175"/>
            <a:ext cx="508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1E3A8A"/>
                </a:solidFill>
                <a:latin typeface="Lato"/>
              </a:rPr>
              <a:t>Tech Partner:</a:t>
            </a:r>
            <a:r>
              <a:rPr b="0" sz="1050" i="0" u="none">
                <a:solidFill>
                  <a:srgbClr val="1E3A8A"/>
                </a:solidFill>
                <a:latin typeface="Lato"/>
              </a:rPr>
              <a:t> Murex (Co-development on cloud risk) | </a:t>
            </a:r>
            <a:r>
              <a:rPr b="1" sz="1050" i="0" u="none">
                <a:solidFill>
                  <a:srgbClr val="1E3A8A"/>
                </a:solidFill>
                <a:latin typeface="Lato"/>
              </a:rPr>
              <a:t>Tech Vendors:</a:t>
            </a:r>
            <a:r>
              <a:rPr b="0" sz="1050" i="0" u="none">
                <a:solidFill>
                  <a:srgbClr val="1E3A8A"/>
                </a:solidFill>
                <a:latin typeface="Lato"/>
              </a:rPr>
              <a:t> Calypso, Bloomberg, FIS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323975"/>
            <a:ext cx="5334000" cy="3600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Financial Markets: Cloud &amp; Real-Time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5750"/>
            <a:ext cx="5334000" cy="628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60070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Trade Finance: Digitalization &amp; DLT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543050"/>
            <a:ext cx="5334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800225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Digitizing Paper-Heavy Trade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28850"/>
            <a:ext cx="533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Transitioning from traditional manual trade processing to optical intelligence, digital bills of lading, and blockchain-enabled trade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28384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51435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Years 1-2: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AI OCR document extraction &amp; automated compliance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1432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43250"/>
            <a:ext cx="51435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Years 3-4: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Interoperability across global DLT trade consortia (Contour/Marco Polo).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6766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76650"/>
            <a:ext cx="51435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Year 5: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Fully automated ESG trade asset origination &amp; distribution.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4210050"/>
            <a:ext cx="5067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Lato"/>
              </a:rPr>
              <a:t>Primary Tech Partner:</a:t>
            </a:r>
            <a:r>
              <a:rPr b="0" sz="1050" i="0" u="none">
                <a:solidFill>
                  <a:srgbClr val="334155"/>
                </a:solidFill>
                <a:latin typeface="Lato"/>
              </a:rPr>
              <a:t> Finastra (Trade Innovation &amp; Joint Cash Management client)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410075"/>
            <a:ext cx="5067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Lato"/>
              </a:rPr>
              <a:t>Niche Vendors:</a:t>
            </a:r>
            <a:r>
              <a:rPr b="0" sz="1050" i="0" u="none">
                <a:solidFill>
                  <a:srgbClr val="334155"/>
                </a:solidFill>
                <a:latin typeface="Lato"/>
              </a:rPr>
              <a:t> CGI (Trade360), R3 Corda, Encompass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3530649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1314450"/>
            <a:ext cx="3530649" cy="2647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314450"/>
            <a:ext cx="3530649" cy="2647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2085975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Real-Time ISO20022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514600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Years 1-2: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Complete global migration to ISO20022 payment messaging standards and sub-second instant clearing rails.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43275"/>
            <a:ext cx="30543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Lato"/>
              </a:rPr>
              <a:t>Partner: SWIFT / FIS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2085975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Embedded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874" y="2514600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Years 3-4: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Expose real-time cash, liquidity, and FX APIs directly into corporate client ERP systems (SAP, Oracle).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343275"/>
            <a:ext cx="30543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Lato"/>
              </a:rPr>
              <a:t>Partners: SAP, Oracle (Dual Clients)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8124" y="2085975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AI Cash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124" y="2514600"/>
            <a:ext cx="30543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Years 4-5: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Deploy predictive liquidity engines providing real-time cash sweep recommendations for multinational Treasurers.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571875"/>
            <a:ext cx="30543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Lato"/>
              </a:rPr>
              <a:t>Vendors: Kyriba, Bottomline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619250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1619250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161925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Cash Management: Real-Time &amp; Open APIs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314450"/>
          <a:ext cx="11048998" cy="2700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51558"/>
                <a:gridCol w="3431827"/>
                <a:gridCol w="3362622"/>
                <a:gridCol w="2502991"/>
              </a:tblGrid>
              <a:tr h="675084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Pillar &amp;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1–2 Year Horizon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3–5 Year Horizon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Strategic Vendor / Partner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75084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Global Custody &amp; Clearing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Legacy mainframe decoupling and real-time corporate action automation.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Multi-asset cloud custody platform with zero-latency settlement.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Broadridge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Tech Partner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Bank manages treasury funds for Broadridge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5084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Digital Asset Custodial Services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Institutional grade wallet infrastructure deployment &amp; sandbox regulatory tests.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Full tokenized asset servicing (bonds, private equity, CBDC interoperability).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Taurus / Fireblocks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Tech Vendor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Co-investing via CIB Ventures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508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Fund Accounting &amp; Data Services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Cloud data lake adoption for real-time NAV calculations and reporting.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Self-service client analytical portals with predictive ESG risk scoring.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Snowflake / State Street Alpha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Vendor Partner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428875"/>
            <a:ext cx="17515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23058" y="2428875"/>
            <a:ext cx="34318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54885" y="2428875"/>
            <a:ext cx="3362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17508" y="2428875"/>
            <a:ext cx="25029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314700"/>
            <a:ext cx="17515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23058" y="3314700"/>
            <a:ext cx="34318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54885" y="3314700"/>
            <a:ext cx="3362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17508" y="3314700"/>
            <a:ext cx="25029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000500"/>
            <a:ext cx="17515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23058" y="4000500"/>
            <a:ext cx="34318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54885" y="4000500"/>
            <a:ext cx="3362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17508" y="4000500"/>
            <a:ext cx="25029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233" y="1871662"/>
            <a:ext cx="11239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9908" y="2757487"/>
            <a:ext cx="1090612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908" y="3643312"/>
            <a:ext cx="1333500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Securities Services: Custody &amp; Tokenization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5353050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314450"/>
            <a:ext cx="5353050" cy="2886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1619250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CLM &amp; Frictionless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2047875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Streamlining complex institutional client onboarding, KYC, and periodic review workflows across product verticals.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762375"/>
            <a:ext cx="4800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Lato"/>
              </a:rPr>
              <a:t>Core Vendor: Fenergo / Pegasystems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1619250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Institutional CRM &amp; Intelligent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2047875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Unified 360-degree client revenue view, cross-sell recommendation engines, and deal pipeline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533775"/>
            <a:ext cx="48006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Lato"/>
              </a:rPr>
              <a:t>Core Strategic Partner: Salesforce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6193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61937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Yr 1-2: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Automated corporate entity tree hierarchy extraction &amp; perpetual KYC (pKYC).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527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15277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Yr 3-5: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Zero-touch onboarding for standard CIB treasury client segments.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8450" y="26193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4175" y="2619375"/>
            <a:ext cx="46101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Yr 1-2: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Consolidated transaction banking &amp; markets revenue analytics.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8450" y="29241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2924175"/>
            <a:ext cx="46101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Yr 3-5: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Generative AI banker copilots for tailored pitchbooks &amp; relationship pricing.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550" y="3533775"/>
            <a:ext cx="1462087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Client Coverage: Onboarding &amp; 360 Client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314450"/>
          <a:ext cx="11048997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82576"/>
                <a:gridCol w="2188517"/>
                <a:gridCol w="2481708"/>
                <a:gridCol w="4096196"/>
              </a:tblGrid>
              <a:tr h="64135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Domain Horizontal / Vertical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Key Technology Vendors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Strategic Technology Partners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Commercial Dual Value Overlay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Financial Markets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Calypso, Bloomberg, MarketAxess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Murex, Nasdaq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Co-development of cloud risk; Nasdaq utilizes CIB clearing services.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Trade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CGI (Trade360), Encompass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Finastra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Finastra utilizes Bank's cash pooling &amp; treasury management solutions.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Cash Management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Kyriba, Bottomline Technologies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SAP, SWIFT, FIS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SAP embed CIB APIs; Bank provides bilateral liquidity lines to FIS.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Securities Services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Taurus, Fireblocks, FIS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Broadridge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Joint ledger co-development; Broadridge mandates Bank for global FX.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Client Coverage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Fenergo, Moody's Analytics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Salesforce, Microsoft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Bank is primary treasury manager for regional SaaS partner operations.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595562"/>
            <a:ext cx="2282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54076" y="2595562"/>
            <a:ext cx="2188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2594" y="2595562"/>
            <a:ext cx="24817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303" y="2595562"/>
            <a:ext cx="4096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233737"/>
            <a:ext cx="2282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54076" y="3233737"/>
            <a:ext cx="2188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2594" y="3233737"/>
            <a:ext cx="24817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24303" y="3233737"/>
            <a:ext cx="4096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71912"/>
            <a:ext cx="2282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4076" y="3871912"/>
            <a:ext cx="2188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2594" y="3871912"/>
            <a:ext cx="24817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303" y="3871912"/>
            <a:ext cx="4096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510087"/>
            <a:ext cx="2282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54076" y="4510087"/>
            <a:ext cx="2188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2594" y="4510087"/>
            <a:ext cx="24817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24303" y="4510087"/>
            <a:ext cx="4096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148262"/>
            <a:ext cx="2282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54076" y="5148262"/>
            <a:ext cx="2188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2594" y="5148262"/>
            <a:ext cx="24817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24303" y="5148262"/>
            <a:ext cx="4096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CIB Vendor vs. Partner Overlay Matrix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6850"/>
            <a:ext cx="5334000" cy="2486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184785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38BDF8"/>
                </a:solidFill>
                <a:latin typeface="Poppins"/>
              </a:rPr>
              <a:t>$145M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7051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Lato SemiBold"/>
              </a:rPr>
              <a:t>Annual Treasury Revenue from Tech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057525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Corporate banking deposits &amp; treasury management fees generated from top 10 Technology Partners.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314450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Unlocking Strategic Synergy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743075"/>
            <a:ext cx="533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Overlaying the CIB technology procurement strategy with the Corporate Banking client coverage model yields significant dual 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275" y="23526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352675"/>
            <a:ext cx="51435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Reciprocal Value Creation: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Every $1 spent on Strategic Tech Partner licenses drives ~$2.20 in corporate banking deposit and transaction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29241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2924175"/>
            <a:ext cx="51435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Joint IP &amp; Product Roadmap Influence: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Board-level partner steering committees allow direct tailoring of software features to CIB needs.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34956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495675"/>
            <a:ext cx="51435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Derisked Co-Investment: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Shared cost model for emerging fintech integrations (e.g. DLT asset servicing).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Co-Innovation &amp; Commercial Synergies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6525"/>
            <a:ext cx="3314700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2676525"/>
            <a:ext cx="3314700" cy="177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676525"/>
            <a:ext cx="3314700" cy="17716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20764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8632" y="1695450"/>
            <a:ext cx="34804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2563EB"/>
                </a:solidFill>
                <a:latin typeface="Poppins SemiBold"/>
              </a:rPr>
              <a:t>Year 1: 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3600" y="2295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5782" y="1695450"/>
            <a:ext cx="34804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2563EB"/>
                </a:solidFill>
                <a:latin typeface="Poppins SemiBold"/>
              </a:rPr>
              <a:t>Year 2-3: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750" y="2295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2932" y="1695450"/>
            <a:ext cx="34804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2563EB"/>
                </a:solidFill>
                <a:latin typeface="Poppins SemiBold"/>
              </a:rPr>
              <a:t>Year 4-5: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67900" y="2295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525" y="2876550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Procurement Realignment: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Classify top 50 CIB suppliers into Vendor vs. Partner tiers.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448050"/>
            <a:ext cx="2914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Establish joint Vendor-Partner Governance Steering Committee with CIB Coverage team.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75" y="2876550"/>
            <a:ext cx="2914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Core Platform Migration: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Execute FM Murex Cloud &amp; Trade Finastra modernizations.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676650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Launch open API cash management endpoints with ERP partners (SAP/Oracle).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5825" y="2876550"/>
            <a:ext cx="2914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Next-Gen Capabilities: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Full deployment of Generative AI client copilot &amp; DLT tokenized asset custody.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5825" y="3676650"/>
            <a:ext cx="2914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Maximized reciprocal commercial value realization across all partners.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Governance &amp; Execution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504950"/>
            <a:ext cx="1160145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Executive Recommendations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671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Senior Management is requested to approve the dual Vendor/Partner strategic governance framework and aligned 3-year CIB transformation budget allocation.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1911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Corporate &amp; Investment Banking Strategy | Technology &amp; Operations Group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7" y="4391025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48012" y="4381500"/>
            <a:ext cx="2371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Lato"/>
              </a:rPr>
              <a:t>Approve Partner Commercial Overlay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87" y="4391025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3662" y="438150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Lato"/>
              </a:rPr>
              <a:t>Mandate Joint CIB/COO Steering Committee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14450"/>
            <a:ext cx="83534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076450"/>
            <a:ext cx="83534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076450"/>
            <a:ext cx="83534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1464468"/>
            <a:ext cx="72580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https://www.altexsoft.com/static/blog-post-featured/2023/10/56a3e1ba-1043-4a3f-943a-0650b09b43fb.jpg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697831"/>
            <a:ext cx="7258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www.altexsoft.com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288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235993"/>
            <a:ext cx="72580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https://media.easy-peasy.ai/6410194c-aa93-4b88-a1cc-bc7bd1e450fe/7a94f3d3-482c-43b9-b5c9-10c186a6f5eb_medium.webp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469356"/>
            <a:ext cx="7258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easy-peasy.ai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