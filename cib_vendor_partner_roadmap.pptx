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 Technology Transformation Roadmap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292608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 DOMAIN 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548640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    </a:t>
            </a:r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Vendor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= vendor that is also a CIB client and/or a co-investor in the joint technology strategy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10515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051560"/>
            <a:ext cx="2615184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93392" y="1051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Foundation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2615184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0016" y="1051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2–3 — Transform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33488" y="1051560"/>
            <a:ext cx="2615184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1051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4–5 — Scale &amp; Innovate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40112" y="105156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113264" y="105156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VENDORS &amp; PARTNERS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35608"/>
            <a:ext cx="1371600" cy="952805"/>
          </a:xfrm>
          <a:prstGeom prst="roundRect">
            <a:avLst>
              <a:gd name="adj" fmla="val 5758"/>
            </a:avLst>
          </a:prstGeom>
          <a:solidFill>
            <a:srgbClr val="141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1435608"/>
            <a:ext cx="118872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</a:t>
            </a:r>
            <a:endParaRPr lang="en-US" sz="13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Vertical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0240" y="143560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48256" y="143560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multi-asset pricing &amp; risk engines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market data platform to cloud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143560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43560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intraday risk &amp; margining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API-enabled liquidity aggregation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3488" y="143560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61504" y="143560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pricing &amp; execution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market risk analytics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40112" y="1435608"/>
            <a:ext cx="1600200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49840" y="1435608"/>
            <a:ext cx="139903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Murex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core trading &amp; risk platform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market data (AIM)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Numerix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risk analytics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461565"/>
            <a:ext cx="11183112" cy="95280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461565"/>
            <a:ext cx="1371600" cy="952805"/>
          </a:xfrm>
          <a:prstGeom prst="roundRect">
            <a:avLst>
              <a:gd name="adj" fmla="val 5758"/>
            </a:avLst>
          </a:prstGeom>
          <a:solidFill>
            <a:srgbClr val="141A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2461565"/>
            <a:ext cx="118872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13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Vertical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20240" y="246156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48256" y="246156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LC &amp; guarantee processing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trade platform upgrade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26864" y="246156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246156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checks (OCR / NLP)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bill of lading adoption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33488" y="246156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61504" y="246156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trade finance ecosystem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trade fraud detection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40112" y="2461565"/>
            <a:ext cx="1600200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49840" y="2461565"/>
            <a:ext cx="139903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Surecomp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trade finance platform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Finastra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trade &amp; lending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Enigio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e-title documents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487522"/>
            <a:ext cx="1371600" cy="952805"/>
          </a:xfrm>
          <a:prstGeom prst="roundRect">
            <a:avLst>
              <a:gd name="adj" fmla="val 5758"/>
            </a:avLst>
          </a:prstGeom>
          <a:solidFill>
            <a:srgbClr val="141A4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3487522"/>
            <a:ext cx="118872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</a:t>
            </a:r>
            <a:endParaRPr lang="en-US" sz="13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Vertical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920240" y="3487522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48256" y="3487522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payments migration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/ API channel build-out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26864" y="3487522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54880" y="3487522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 &amp; Banking-as-a-Service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liquidity forecasting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33488" y="3487522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61504" y="3487522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Treasury-as-a-service ecosystem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cash &amp; liquidity optimization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040112" y="3487522"/>
            <a:ext cx="1600200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149840" y="3487522"/>
            <a:ext cx="139903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Volante Tech.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ISO 20022 co-development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payments engine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 Worldwide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payments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513478"/>
            <a:ext cx="11183112" cy="95280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4513478"/>
            <a:ext cx="1371600" cy="952805"/>
          </a:xfrm>
          <a:prstGeom prst="roundRect">
            <a:avLst>
              <a:gd name="adj" fmla="val 5758"/>
            </a:avLst>
          </a:prstGeom>
          <a:solidFill>
            <a:srgbClr val="141A4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48640" y="4513478"/>
            <a:ext cx="118872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Services</a:t>
            </a:r>
            <a:endParaRPr lang="en-US" sz="13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Vertical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920240" y="451347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48256" y="451347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platform modernization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automation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26864" y="451347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54880" y="451347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custody build-out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securities settlement pilots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33488" y="4513478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61504" y="4513478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(T+0) DLT settlement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reconciliation &amp; NAV ops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040112" y="4513478"/>
            <a:ext cx="1600200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49840" y="4513478"/>
            <a:ext cx="139903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Broadridge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post-trade platform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DLT / Daml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SS&amp;C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fund administration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5539435"/>
            <a:ext cx="1371600" cy="952805"/>
          </a:xfrm>
          <a:prstGeom prst="roundRect">
            <a:avLst>
              <a:gd name="adj" fmla="val 5758"/>
            </a:avLst>
          </a:prstGeom>
          <a:solidFill>
            <a:srgbClr val="141A4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48640" y="5539435"/>
            <a:ext cx="118872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Coverage</a:t>
            </a:r>
            <a:endParaRPr lang="en-US" sz="13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— Onboarding &amp; Relationship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1920240" y="553943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048256" y="553943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Client 360 &amp; CRM refresh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KYC onboarding pilot (Onboard.AI)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26864" y="553943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754880" y="553943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agents scaled across markets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relationship intelligence &amp; cross-sell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333488" y="5539435"/>
            <a:ext cx="2615184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461504" y="5539435"/>
            <a:ext cx="237744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onboarding &amp; periodic review</a:t>
            </a:r>
            <a:endParaRPr lang="en-US" sz="1050" dirty="0"/>
          </a:p>
          <a:p>
            <a:pPr algn="l" marL="152400" indent="-152400">
              <a:lnSpc>
                <a:spcPct val="105000"/>
              </a:lnSpc>
              <a:buSzPct val="100000"/>
              <a:buChar char="▪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hyper-personalized engagement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040112" y="5539435"/>
            <a:ext cx="1600200" cy="952805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149840" y="5539435"/>
            <a:ext cx="139903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CRM, joint roadmap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</a:t>
            </a:r>
            <a:endParaRPr lang="en-US" sz="950" dirty="0"/>
          </a:p>
          <a:p>
            <a:pPr algn="l" indent="0" marL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KYC case management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client servicing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2026-08-28T09:20:54Z</dcterms:created>
  <dcterms:modified xsi:type="dcterms:W3CDTF">2026-08-28T09:20:54Z</dcterms:modified>
</cp:coreProperties>
</file>